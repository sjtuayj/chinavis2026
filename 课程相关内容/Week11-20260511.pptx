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518" r:id="rId3"/>
    <p:sldId id="585" r:id="rId5"/>
    <p:sldId id="586" r:id="rId6"/>
    <p:sldId id="587" r:id="rId7"/>
    <p:sldId id="588" r:id="rId8"/>
    <p:sldId id="589" r:id="rId9"/>
    <p:sldId id="593" r:id="rId10"/>
    <p:sldId id="590" r:id="rId11"/>
    <p:sldId id="591" r:id="rId12"/>
    <p:sldId id="595" r:id="rId13"/>
    <p:sldId id="596" r:id="rId14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417" autoAdjust="0"/>
  </p:normalViewPr>
  <p:slideViewPr>
    <p:cSldViewPr snapToGrid="0" snapToObjects="1" showGuides="1">
      <p:cViewPr>
        <p:scale>
          <a:sx n="73" d="100"/>
          <a:sy n="73" d="100"/>
        </p:scale>
        <p:origin x="86" y="3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D1174-C922-5F4F-A6C6-AE2090C1020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4B8CC-9F38-F04F-B7E5-A4C4D853DA98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D75AE-1B28-1F43-87B9-7F848C610E5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4BF5B4-73A9-654D-8B47-E7D76B3A4C0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各位同学下午好，你们现在参加学习的课程是“数据可视化与可视分析”。我是主讲老师董笑菊，来自于电院计算机系。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D39930-019F-7F4C-B130-213FEFECD43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66383-2C3B-4044-A0F2-FD81FED08412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F5A0A-F6FC-4FFD-9B49-0DA8697211D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53D3B-E70E-114C-8113-24D3EA16B1A9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2E9C3-B756-DB40-84D7-794350F5E004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A225-41A4-0F42-BF53-BCA075F2662D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C10042-3B04-7347-9355-AD3F14077659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D0626-FF2E-7841-B095-EC4DB0238A70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4B81C-B32D-E547-991D-CD1240CC649D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4AD39-A990-C240-9DAA-3CD619FE3034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 anchor="t"/>
          <a:lstStyle>
            <a:lvl1pPr marL="0" indent="0">
              <a:buNone/>
              <a:defRPr sz="1400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5409-4A11-C640-A9EB-47F47DDB6A4B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E5A69-099B-E348-B5DB-AD4627792DEC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7C73D-0D55-9A4E-8176-998D87BC3ED9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二级</a:t>
            </a:r>
            <a:endParaRPr lang="zh-CN" altLang="en-US" smtClean="0"/>
          </a:p>
          <a:p>
            <a:pPr lvl="2"/>
            <a:r>
              <a:rPr lang="zh-CN" altLang="en-US" smtClean="0"/>
              <a:t>三级</a:t>
            </a:r>
            <a:endParaRPr lang="zh-CN" altLang="en-US" smtClean="0"/>
          </a:p>
          <a:p>
            <a:pPr lvl="3"/>
            <a:r>
              <a:rPr lang="zh-CN" altLang="en-US" smtClean="0"/>
              <a:t>四级</a:t>
            </a:r>
            <a:endParaRPr lang="zh-CN" altLang="en-US" smtClean="0"/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F764D-87EB-E543-8B2E-47D5E28C1FEB}" type="datetime1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759510" y="1257316"/>
            <a:ext cx="6219313" cy="1960864"/>
          </a:xfrm>
        </p:spPr>
        <p:txBody>
          <a:bodyPr>
            <a:normAutofit/>
          </a:bodyPr>
          <a:lstStyle/>
          <a:p>
            <a:r>
              <a:rPr kumimoji="1" lang="zh-CN" altLang="en-US" sz="4400" dirty="0">
                <a:solidFill>
                  <a:srgbClr val="FFFF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数据可视化与可视分析</a:t>
            </a:r>
            <a:br>
              <a:rPr kumimoji="1" lang="zh-CN" altLang="en-US" sz="4400" dirty="0">
                <a:solidFill>
                  <a:srgbClr val="FFFF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kumimoji="1" lang="en-US" altLang="zh-CN" sz="2800" dirty="0">
                <a:solidFill>
                  <a:srgbClr val="FFFF00"/>
                </a:solidFill>
              </a:rPr>
              <a:t>Data</a:t>
            </a:r>
            <a:r>
              <a:rPr kumimoji="1" lang="zh-CN" altLang="en-US" sz="2800" dirty="0">
                <a:solidFill>
                  <a:srgbClr val="FFFF00"/>
                </a:solidFill>
              </a:rPr>
              <a:t> </a:t>
            </a:r>
            <a:r>
              <a:rPr kumimoji="1" lang="en-US" altLang="zh-CN" sz="2800" dirty="0">
                <a:solidFill>
                  <a:srgbClr val="FFFF00"/>
                </a:solidFill>
              </a:rPr>
              <a:t>Visualization</a:t>
            </a:r>
            <a:r>
              <a:rPr kumimoji="1" lang="zh-CN" altLang="en-US" sz="2800" dirty="0">
                <a:solidFill>
                  <a:srgbClr val="FFFF00"/>
                </a:solidFill>
              </a:rPr>
              <a:t> </a:t>
            </a:r>
            <a:r>
              <a:rPr kumimoji="1" lang="en-US" altLang="zh-CN" sz="2800" dirty="0">
                <a:solidFill>
                  <a:srgbClr val="FFFF00"/>
                </a:solidFill>
              </a:rPr>
              <a:t>and</a:t>
            </a:r>
            <a:r>
              <a:rPr kumimoji="1" lang="zh-CN" altLang="en-US" sz="2800" dirty="0">
                <a:solidFill>
                  <a:srgbClr val="FFFF00"/>
                </a:solidFill>
              </a:rPr>
              <a:t> </a:t>
            </a:r>
            <a:r>
              <a:rPr kumimoji="1" lang="en-US" altLang="zh-CN" sz="2800" dirty="0">
                <a:solidFill>
                  <a:srgbClr val="FFFF00"/>
                </a:solidFill>
              </a:rPr>
              <a:t>Visual</a:t>
            </a:r>
            <a:r>
              <a:rPr kumimoji="1" lang="zh-CN" altLang="en-US" sz="2800" dirty="0">
                <a:solidFill>
                  <a:srgbClr val="FFFF00"/>
                </a:solidFill>
              </a:rPr>
              <a:t> </a:t>
            </a:r>
            <a:r>
              <a:rPr kumimoji="1" lang="en-US" altLang="zh-CN" sz="2800" dirty="0">
                <a:solidFill>
                  <a:srgbClr val="FFFF00"/>
                </a:solidFill>
              </a:rPr>
              <a:t>Analytics</a:t>
            </a:r>
            <a:endParaRPr kumimoji="1" lang="zh-CN" altLang="en-US" sz="2800" dirty="0">
              <a:solidFill>
                <a:srgbClr val="FFFF00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519854" y="3784882"/>
            <a:ext cx="5458968" cy="1813806"/>
          </a:xfrm>
        </p:spPr>
        <p:txBody>
          <a:bodyPr>
            <a:noAutofit/>
          </a:bodyPr>
          <a:lstStyle/>
          <a:p>
            <a:r>
              <a:rPr kumimoji="1" lang="zh-CN" altLang="en-US" sz="32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董笑菊</a:t>
            </a:r>
            <a:endParaRPr kumimoji="1" lang="en-US" altLang="zh-CN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kumimoji="1" lang="zh-CN" sz="24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计算机学院</a:t>
            </a:r>
            <a:endParaRPr kumimoji="1" lang="zh-CN" sz="24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课程设计</a:t>
            </a:r>
            <a:r>
              <a:rPr lang="zh-CN" altLang="en-US" dirty="0" smtClean="0"/>
              <a:t>分享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24050" y="1600201"/>
            <a:ext cx="5208270" cy="4525963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流程规划</a:t>
            </a:r>
            <a:endParaRPr lang="en-US" altLang="zh-CN" dirty="0" smtClean="0"/>
          </a:p>
          <a:p>
            <a:r>
              <a:rPr lang="zh-CN" altLang="en-US" dirty="0" smtClean="0"/>
              <a:t>问题分析方法</a:t>
            </a:r>
            <a:endParaRPr lang="en-US" altLang="zh-CN" dirty="0" smtClean="0"/>
          </a:p>
          <a:p>
            <a:r>
              <a:rPr lang="zh-CN" altLang="en-US" dirty="0" smtClean="0"/>
              <a:t>数据来源</a:t>
            </a:r>
            <a:endParaRPr lang="en-US" altLang="zh-CN" dirty="0" smtClean="0"/>
          </a:p>
          <a:p>
            <a:r>
              <a:rPr lang="zh-CN" altLang="en-US" dirty="0" smtClean="0"/>
              <a:t>可视化设计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内容占位符 2"/>
          <p:cNvSpPr txBox="1"/>
          <p:nvPr/>
        </p:nvSpPr>
        <p:spPr>
          <a:xfrm>
            <a:off x="6096000" y="1600201"/>
            <a:ext cx="4720590" cy="4525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交互</a:t>
            </a:r>
            <a:r>
              <a:rPr lang="zh-CN" altLang="en-US" dirty="0" smtClean="0"/>
              <a:t>设计</a:t>
            </a:r>
            <a:endParaRPr lang="en-US" altLang="zh-CN" dirty="0" smtClean="0"/>
          </a:p>
          <a:p>
            <a:r>
              <a:rPr lang="zh-CN" altLang="en-US" dirty="0" smtClean="0"/>
              <a:t>用好插件和良好习惯</a:t>
            </a:r>
            <a:endParaRPr lang="en-US" altLang="zh-CN" dirty="0" smtClean="0"/>
          </a:p>
          <a:p>
            <a:r>
              <a:rPr lang="zh-CN" altLang="en-US" dirty="0" smtClean="0"/>
              <a:t>可使用的库</a:t>
            </a:r>
            <a:endParaRPr lang="en-US" altLang="zh-CN" dirty="0" smtClean="0"/>
          </a:p>
          <a:p>
            <a:r>
              <a:rPr lang="zh-CN" altLang="en-US" dirty="0" smtClean="0"/>
              <a:t>评价标准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流程</a:t>
            </a:r>
            <a:r>
              <a:rPr lang="zh-CN" altLang="en-US" dirty="0" smtClean="0"/>
              <a:t>规划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956047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一定</a:t>
            </a:r>
            <a:r>
              <a:rPr lang="zh-CN" altLang="en-US" dirty="0"/>
              <a:t>要控制好时间，管理进度，时间很紧张，建议多任务并行，不要停滞在一个阶段过久，最好每周</a:t>
            </a:r>
            <a:r>
              <a:rPr lang="zh-CN" altLang="en-US" dirty="0" smtClean="0"/>
              <a:t>都进行</a:t>
            </a:r>
            <a:r>
              <a:rPr lang="zh-CN" altLang="en-US" dirty="0"/>
              <a:t>一次组内同步，安排下一周的任务</a:t>
            </a:r>
            <a:endParaRPr lang="zh-CN" altLang="en-US" dirty="0"/>
          </a:p>
          <a:p>
            <a:pPr marL="400050" lvl="1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数据处理（数据清洗）、数据补充（不超过</a:t>
            </a:r>
            <a:r>
              <a:rPr lang="en-US" altLang="zh-CN" dirty="0"/>
              <a:t>1</a:t>
            </a:r>
            <a:r>
              <a:rPr lang="zh-CN" altLang="en-US" dirty="0"/>
              <a:t>周）</a:t>
            </a:r>
            <a:endParaRPr lang="zh-CN" altLang="en-US" dirty="0"/>
          </a:p>
          <a:p>
            <a:pPr marL="400050" lvl="1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模型搭建 、后台代码 （</a:t>
            </a:r>
            <a:r>
              <a:rPr lang="en-US" altLang="zh-CN" dirty="0" smtClean="0"/>
              <a:t>2-3</a:t>
            </a:r>
            <a:r>
              <a:rPr lang="zh-CN" altLang="en-US" dirty="0" smtClean="0"/>
              <a:t>周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00050" lvl="1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前端页面</a:t>
            </a:r>
            <a:r>
              <a:rPr lang="zh-CN" altLang="en-US" dirty="0" smtClean="0"/>
              <a:t>设计（</a:t>
            </a:r>
            <a:r>
              <a:rPr lang="zh-CN" altLang="en-US" dirty="0"/>
              <a:t>分成多个视图进行开发）（</a:t>
            </a:r>
            <a:r>
              <a:rPr lang="en-US" altLang="zh-CN" dirty="0" smtClean="0"/>
              <a:t>2-3</a:t>
            </a:r>
            <a:r>
              <a:rPr lang="zh-CN" altLang="en-US" dirty="0" smtClean="0"/>
              <a:t>周</a:t>
            </a:r>
            <a:r>
              <a:rPr lang="zh-CN" altLang="en-US" dirty="0"/>
              <a:t>）</a:t>
            </a:r>
            <a:endParaRPr lang="zh-CN" altLang="en-US" dirty="0"/>
          </a:p>
          <a:p>
            <a:pPr marL="400050" lvl="1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系统整合 （不超过</a:t>
            </a:r>
            <a:r>
              <a:rPr lang="en-US" altLang="zh-CN" dirty="0"/>
              <a:t>1</a:t>
            </a:r>
            <a:r>
              <a:rPr lang="zh-CN" altLang="en-US" dirty="0"/>
              <a:t>周）</a:t>
            </a:r>
            <a:endParaRPr lang="zh-CN" altLang="en-US" dirty="0"/>
          </a:p>
          <a:p>
            <a:pPr marL="400050" lvl="1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案例分析，写文档，录视频（最后一周或</a:t>
            </a:r>
            <a:r>
              <a:rPr lang="en-US" altLang="zh-CN" dirty="0"/>
              <a:t>3</a:t>
            </a:r>
            <a:r>
              <a:rPr lang="zh-CN" altLang="en-US" dirty="0"/>
              <a:t>天左右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400050" lvl="1" indent="0">
              <a:buNone/>
            </a:pPr>
            <a:r>
              <a:rPr lang="zh-CN" altLang="en-US" dirty="0" smtClean="0"/>
              <a:t>注意：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部分可并行进行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问题分析方法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仔细研读数据</a:t>
            </a:r>
            <a:endParaRPr lang="zh-CN" altLang="en-US" dirty="0"/>
          </a:p>
          <a:p>
            <a:r>
              <a:rPr lang="zh-CN" altLang="en-US" dirty="0"/>
              <a:t>寻找相关</a:t>
            </a:r>
            <a:r>
              <a:rPr lang="zh-CN" altLang="en-US" dirty="0" smtClean="0"/>
              <a:t>论文</a:t>
            </a:r>
            <a:endParaRPr lang="zh-CN" altLang="en-US" dirty="0"/>
          </a:p>
          <a:p>
            <a:r>
              <a:rPr lang="zh-CN" altLang="en-US" dirty="0"/>
              <a:t>学习相关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</a:t>
            </a:r>
            <a:r>
              <a:rPr lang="zh-CN" altLang="en-US" dirty="0" smtClean="0"/>
              <a:t>来源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数据集可以选择给定数据集，也可以考虑使用爬虫进行爬取，或者寻找一些该领域的开放数据集</a:t>
            </a:r>
            <a:endParaRPr lang="zh-CN" altLang="en-US" dirty="0" smtClean="0"/>
          </a:p>
          <a:p>
            <a:r>
              <a:rPr lang="zh-CN" altLang="en-US" dirty="0" smtClean="0"/>
              <a:t>开放</a:t>
            </a:r>
            <a:r>
              <a:rPr lang="zh-CN" altLang="en-US" dirty="0"/>
              <a:t>数据集网站：</a:t>
            </a:r>
            <a:r>
              <a:rPr lang="en-US" altLang="zh-CN" dirty="0" err="1"/>
              <a:t>data.world</a:t>
            </a:r>
            <a:r>
              <a:rPr lang="zh-CN" altLang="en-US" dirty="0"/>
              <a:t>，</a:t>
            </a:r>
            <a:r>
              <a:rPr lang="en-US" altLang="zh-CN" dirty="0" err="1"/>
              <a:t>kaggle</a:t>
            </a:r>
            <a:r>
              <a:rPr lang="zh-CN" altLang="en-US" dirty="0"/>
              <a:t>，或者直接搜索引擎</a:t>
            </a:r>
            <a:endParaRPr lang="zh-CN" altLang="en-US" dirty="0"/>
          </a:p>
          <a:p>
            <a:r>
              <a:rPr lang="zh-CN" altLang="en-US" dirty="0"/>
              <a:t>本次：</a:t>
            </a:r>
            <a:r>
              <a:rPr lang="en-US" altLang="zh-CN" dirty="0"/>
              <a:t>ChinaVis2026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可视化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多</a:t>
            </a:r>
            <a:r>
              <a:rPr lang="zh-CN" altLang="en-US" dirty="0"/>
              <a:t>参考其他可视化作品的视图设计（往年</a:t>
            </a:r>
            <a:r>
              <a:rPr lang="en-US" altLang="zh-CN" dirty="0" err="1"/>
              <a:t>ChinaVis</a:t>
            </a:r>
            <a:r>
              <a:rPr lang="zh-CN" altLang="en-US" dirty="0"/>
              <a:t>的作品以及一些国外优秀可视化作品）</a:t>
            </a:r>
            <a:endParaRPr lang="zh-CN" altLang="en-US" dirty="0"/>
          </a:p>
          <a:p>
            <a:r>
              <a:rPr lang="zh-CN" altLang="en-US" dirty="0"/>
              <a:t>在各大可视化工具网站上找，看有没有能用来达成自己的某个目的的</a:t>
            </a:r>
            <a:r>
              <a:rPr lang="zh-CN" altLang="en-US" dirty="0" smtClean="0"/>
              <a:t>图表</a:t>
            </a:r>
            <a:endParaRPr lang="en-US" altLang="zh-CN" dirty="0" smtClean="0"/>
          </a:p>
          <a:p>
            <a:r>
              <a:rPr lang="zh-CN" altLang="en-US" dirty="0"/>
              <a:t>图与文字的</a:t>
            </a:r>
            <a:r>
              <a:rPr lang="zh-CN" altLang="en-US" dirty="0" smtClean="0"/>
              <a:t>比例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图</a:t>
            </a:r>
            <a:r>
              <a:rPr lang="zh-CN" altLang="en-US" dirty="0"/>
              <a:t>占</a:t>
            </a:r>
            <a:r>
              <a:rPr lang="en-US" altLang="zh-CN" dirty="0"/>
              <a:t>80%</a:t>
            </a:r>
            <a:r>
              <a:rPr lang="zh-CN" altLang="en-US" dirty="0"/>
              <a:t>左右</a:t>
            </a:r>
            <a:endParaRPr lang="zh-CN" altLang="en-US" dirty="0"/>
          </a:p>
          <a:p>
            <a:pPr lvl="1"/>
            <a:r>
              <a:rPr lang="zh-CN" altLang="en-US" dirty="0"/>
              <a:t>文字</a:t>
            </a:r>
            <a:r>
              <a:rPr lang="zh-CN" altLang="en-US" dirty="0" smtClean="0"/>
              <a:t>除基本</a:t>
            </a:r>
            <a:r>
              <a:rPr lang="zh-CN" altLang="en-US" dirty="0"/>
              <a:t>图例、指引性文字之外，</a:t>
            </a:r>
            <a:r>
              <a:rPr lang="zh-CN" altLang="en-US" dirty="0" smtClean="0"/>
              <a:t>主要在</a:t>
            </a:r>
            <a:r>
              <a:rPr lang="zh-CN" altLang="en-US" dirty="0"/>
              <a:t>需要显示数据详细信息时用</a:t>
            </a:r>
            <a:r>
              <a:rPr lang="zh-CN" altLang="en-US" dirty="0" smtClean="0"/>
              <a:t>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交互</a:t>
            </a:r>
            <a:r>
              <a:rPr lang="zh-CN" altLang="en-US" dirty="0" smtClean="0"/>
              <a:t>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设计</a:t>
            </a:r>
            <a:r>
              <a:rPr lang="zh-CN" altLang="en-US" dirty="0"/>
              <a:t>完整的</a:t>
            </a:r>
            <a:r>
              <a:rPr lang="en-US" altLang="zh-CN" dirty="0"/>
              <a:t>workflow</a:t>
            </a:r>
            <a:r>
              <a:rPr lang="zh-CN" altLang="en-US" dirty="0"/>
              <a:t>，设想用户的交互行为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鼠标</a:t>
            </a:r>
            <a:r>
              <a:rPr lang="zh-CN" altLang="en-US" dirty="0"/>
              <a:t>悬浮、点击事件</a:t>
            </a:r>
            <a:endParaRPr lang="zh-CN" altLang="en-US" dirty="0"/>
          </a:p>
          <a:p>
            <a:pPr lvl="1"/>
            <a:r>
              <a:rPr lang="zh-CN" altLang="en-US" dirty="0"/>
              <a:t>多视图联动</a:t>
            </a:r>
            <a:endParaRPr lang="zh-CN" altLang="en-US" dirty="0"/>
          </a:p>
          <a:p>
            <a:pPr lvl="1"/>
            <a:r>
              <a:rPr lang="en-US" altLang="zh-CN" dirty="0" smtClean="0"/>
              <a:t>zoom</a:t>
            </a:r>
            <a:r>
              <a:rPr lang="zh-CN" altLang="en-US" dirty="0"/>
              <a:t>，</a:t>
            </a:r>
            <a:r>
              <a:rPr lang="en-US" altLang="zh-CN" dirty="0"/>
              <a:t>drag</a:t>
            </a:r>
            <a:endParaRPr lang="en-US" altLang="zh-CN" dirty="0"/>
          </a:p>
          <a:p>
            <a:pPr lvl="1"/>
            <a:r>
              <a:rPr lang="zh-CN" altLang="en-US" dirty="0"/>
              <a:t>下钻，</a:t>
            </a:r>
            <a:r>
              <a:rPr lang="en-US" altLang="zh-CN" dirty="0"/>
              <a:t>focus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写代码过程</a:t>
            </a:r>
            <a:r>
              <a:rPr lang="zh-CN" altLang="en-US" b="1" dirty="0" smtClean="0"/>
              <a:t>中用好插件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 smtClean="0"/>
              <a:t>插件：根据使用的语言</a:t>
            </a:r>
            <a:r>
              <a:rPr lang="zh-CN" altLang="en-US" dirty="0"/>
              <a:t>，直接在网上搜推荐的</a:t>
            </a:r>
            <a:r>
              <a:rPr lang="zh-CN" altLang="en-US" dirty="0" smtClean="0"/>
              <a:t>插件，</a:t>
            </a:r>
            <a:r>
              <a:rPr lang="zh-CN" altLang="en-US" dirty="0"/>
              <a:t>前端</a:t>
            </a:r>
            <a:r>
              <a:rPr lang="en-US" altLang="zh-CN" dirty="0" err="1"/>
              <a:t>VsCode</a:t>
            </a:r>
            <a:r>
              <a:rPr lang="zh-CN" altLang="en-US" dirty="0"/>
              <a:t>的插件比较多，</a:t>
            </a:r>
            <a:r>
              <a:rPr lang="en-US" altLang="zh-CN" dirty="0" smtClean="0"/>
              <a:t>Idea</a:t>
            </a:r>
            <a:r>
              <a:rPr lang="zh-CN" altLang="en-US" dirty="0"/>
              <a:t>、</a:t>
            </a:r>
            <a:r>
              <a:rPr lang="en-US" altLang="zh-CN" dirty="0" err="1" smtClean="0"/>
              <a:t>WebStorm</a:t>
            </a:r>
            <a:r>
              <a:rPr lang="zh-CN" altLang="en-US" dirty="0"/>
              <a:t>的插件少。</a:t>
            </a:r>
            <a:endParaRPr lang="zh-CN" altLang="en-US" dirty="0"/>
          </a:p>
          <a:p>
            <a:r>
              <a:rPr lang="zh-CN" altLang="en-US" dirty="0"/>
              <a:t>可用</a:t>
            </a:r>
            <a:r>
              <a:rPr lang="en-US" altLang="zh-CN" dirty="0"/>
              <a:t>AI / </a:t>
            </a:r>
            <a:r>
              <a:rPr lang="en-US" altLang="zh-CN" dirty="0" smtClean="0"/>
              <a:t>Copilot</a:t>
            </a:r>
            <a:r>
              <a:rPr lang="zh-CN" altLang="en-US" dirty="0"/>
              <a:t>，自动代码补全</a:t>
            </a:r>
            <a:r>
              <a:rPr lang="zh-CN" altLang="en-US" dirty="0" smtClean="0"/>
              <a:t>插件。</a:t>
            </a:r>
            <a:endParaRPr lang="zh-CN" altLang="en-US" dirty="0"/>
          </a:p>
          <a:p>
            <a:r>
              <a:rPr lang="zh-CN" altLang="en-US" dirty="0"/>
              <a:t>后端如果要用</a:t>
            </a:r>
            <a:r>
              <a:rPr lang="en-US" altLang="zh-CN" dirty="0"/>
              <a:t>python</a:t>
            </a:r>
            <a:r>
              <a:rPr lang="zh-CN" altLang="en-US" dirty="0"/>
              <a:t>机器学习模型，可以使用</a:t>
            </a:r>
            <a:r>
              <a:rPr lang="en-US" altLang="zh-CN" dirty="0"/>
              <a:t>flask</a:t>
            </a:r>
            <a:r>
              <a:rPr lang="zh-CN" altLang="en-US" dirty="0"/>
              <a:t>或</a:t>
            </a:r>
            <a:r>
              <a:rPr lang="en-US" altLang="zh-CN" dirty="0"/>
              <a:t>Django</a:t>
            </a:r>
            <a:r>
              <a:rPr lang="zh-CN" altLang="en-US" dirty="0"/>
              <a:t>作为后端框架，语言一致</a:t>
            </a:r>
            <a:r>
              <a:rPr lang="zh-CN" altLang="en-US" dirty="0" smtClean="0"/>
              <a:t>。用</a:t>
            </a:r>
            <a:r>
              <a:rPr lang="en-US" altLang="zh-CN" dirty="0" smtClean="0"/>
              <a:t>python</a:t>
            </a:r>
            <a:r>
              <a:rPr lang="zh-CN" altLang="en-US" dirty="0"/>
              <a:t>的</a:t>
            </a:r>
            <a:r>
              <a:rPr lang="en-US" altLang="zh-CN" dirty="0"/>
              <a:t>pandas</a:t>
            </a:r>
            <a:r>
              <a:rPr lang="zh-CN" altLang="en-US" dirty="0"/>
              <a:t>和</a:t>
            </a:r>
            <a:r>
              <a:rPr lang="en-US" altLang="zh-CN" dirty="0" err="1"/>
              <a:t>numpy</a:t>
            </a:r>
            <a:r>
              <a:rPr lang="zh-CN" altLang="en-US" dirty="0"/>
              <a:t>做数据处理也是很好的</a:t>
            </a:r>
            <a:r>
              <a:rPr lang="zh-CN" altLang="en-US" dirty="0" smtClean="0"/>
              <a:t>。</a:t>
            </a:r>
            <a:r>
              <a:rPr lang="zh-CN" altLang="en-US" dirty="0"/>
              <a:t>慎用</a:t>
            </a:r>
            <a:r>
              <a:rPr lang="en-US" altLang="zh-CN" dirty="0" smtClean="0"/>
              <a:t>java</a:t>
            </a:r>
            <a:r>
              <a:rPr lang="zh-CN" altLang="en-US" dirty="0"/>
              <a:t>的</a:t>
            </a:r>
            <a:r>
              <a:rPr lang="en-US" altLang="zh-CN" dirty="0"/>
              <a:t>Spring</a:t>
            </a:r>
            <a:r>
              <a:rPr lang="zh-CN" altLang="en-US" dirty="0"/>
              <a:t>系列</a:t>
            </a:r>
            <a:r>
              <a:rPr lang="zh-CN" altLang="en-US" dirty="0" smtClean="0"/>
              <a:t>框架，因为比赛</a:t>
            </a:r>
            <a:r>
              <a:rPr lang="zh-CN" altLang="en-US" dirty="0"/>
              <a:t>很可能不涉及到数据库操作，数据基本以</a:t>
            </a:r>
            <a:r>
              <a:rPr lang="en-US" altLang="zh-CN" dirty="0"/>
              <a:t>CSV</a:t>
            </a:r>
            <a:r>
              <a:rPr lang="zh-CN" altLang="en-US" dirty="0"/>
              <a:t>或</a:t>
            </a:r>
            <a:r>
              <a:rPr lang="en-US" altLang="zh-CN" dirty="0"/>
              <a:t>JSON</a:t>
            </a:r>
            <a:r>
              <a:rPr lang="zh-CN" altLang="en-US" dirty="0"/>
              <a:t>文件形式呈现，并且业务也</a:t>
            </a:r>
            <a:r>
              <a:rPr lang="zh-CN" altLang="en-US" dirty="0" smtClean="0"/>
              <a:t>比较简单</a:t>
            </a:r>
            <a:r>
              <a:rPr lang="zh-CN" altLang="en-US" dirty="0"/>
              <a:t>，后端除了</a:t>
            </a:r>
            <a:r>
              <a:rPr lang="en-US" altLang="zh-CN" dirty="0"/>
              <a:t>ML</a:t>
            </a:r>
            <a:r>
              <a:rPr lang="zh-CN" altLang="en-US" dirty="0"/>
              <a:t>模型之外，主要就是担任数据处理的工作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写代码过程</a:t>
            </a:r>
            <a:r>
              <a:rPr lang="zh-CN" altLang="en-US" b="1" dirty="0" smtClean="0"/>
              <a:t>中良好习惯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Github</a:t>
            </a:r>
            <a:r>
              <a:rPr lang="zh-CN" altLang="en-US" dirty="0"/>
              <a:t>进行团队项目管理，写好</a:t>
            </a:r>
            <a:r>
              <a:rPr lang="en-US" altLang="zh-CN" dirty="0" err="1"/>
              <a:t>pr</a:t>
            </a:r>
            <a:r>
              <a:rPr lang="zh-CN" altLang="en-US" dirty="0"/>
              <a:t>，写注释！！！！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r>
              <a:rPr lang="zh-CN" altLang="en-US" dirty="0" smtClean="0"/>
              <a:t>组织</a:t>
            </a:r>
            <a:r>
              <a:rPr lang="zh-CN" altLang="en-US" dirty="0"/>
              <a:t>好项目结构：数据，图片资源，</a:t>
            </a:r>
            <a:r>
              <a:rPr lang="en-US" altLang="zh-CN" dirty="0" err="1"/>
              <a:t>css</a:t>
            </a:r>
            <a:r>
              <a:rPr lang="zh-CN" altLang="en-US" dirty="0"/>
              <a:t>，</a:t>
            </a:r>
            <a:r>
              <a:rPr lang="en-US" altLang="zh-CN" dirty="0" err="1"/>
              <a:t>js</a:t>
            </a:r>
            <a:r>
              <a:rPr lang="zh-CN" altLang="en-US" dirty="0"/>
              <a:t>，</a:t>
            </a:r>
            <a:r>
              <a:rPr lang="en-US" altLang="zh-CN" dirty="0"/>
              <a:t>html</a:t>
            </a:r>
            <a:r>
              <a:rPr lang="zh-CN" altLang="en-US" dirty="0"/>
              <a:t>，包管理</a:t>
            </a:r>
            <a:endParaRPr lang="zh-CN" altLang="en-US" dirty="0"/>
          </a:p>
          <a:p>
            <a:r>
              <a:rPr lang="en-US" altLang="zh-CN" dirty="0"/>
              <a:t>Hard Code</a:t>
            </a:r>
            <a:r>
              <a:rPr lang="zh-CN" altLang="en-US" dirty="0"/>
              <a:t>，是指在不确定代码的实现方案，实现有困难的时候，先固定代码中用到的数据，以</a:t>
            </a:r>
            <a:r>
              <a:rPr lang="zh-CN" altLang="en-US" dirty="0" smtClean="0"/>
              <a:t>常量</a:t>
            </a:r>
            <a:r>
              <a:rPr lang="zh-CN" altLang="en-US" dirty="0"/>
              <a:t>代替，解决掉核心问题，确定实现方法，调试好最终的功能效果，再把实际数据放进去</a:t>
            </a:r>
            <a:endParaRPr lang="zh-CN" altLang="en-US" dirty="0"/>
          </a:p>
          <a:p>
            <a:r>
              <a:rPr lang="zh-CN" altLang="en-US" dirty="0"/>
              <a:t>变量不要随便命名，遵循固定规则，如驼峰命名法，队内命名方法要统一</a:t>
            </a:r>
            <a:endParaRPr lang="zh-CN" altLang="en-US" dirty="0"/>
          </a:p>
          <a:p>
            <a:r>
              <a:rPr lang="zh-CN" altLang="en-US" dirty="0"/>
              <a:t>注意函数封装和代码低耦合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可</a:t>
            </a:r>
            <a:r>
              <a:rPr lang="zh-CN" altLang="en-US" b="1" dirty="0" smtClean="0"/>
              <a:t>使用</a:t>
            </a:r>
            <a:r>
              <a:rPr lang="zh-CN" altLang="en-US" b="1" dirty="0"/>
              <a:t>的</a:t>
            </a:r>
            <a:r>
              <a:rPr lang="zh-CN" altLang="en-US" b="1" dirty="0" smtClean="0"/>
              <a:t>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可视化</a:t>
            </a:r>
            <a:r>
              <a:rPr lang="zh-CN" altLang="en-US" dirty="0"/>
              <a:t>库：</a:t>
            </a:r>
            <a:r>
              <a:rPr lang="en-US" altLang="zh-CN" dirty="0" err="1" smtClean="0"/>
              <a:t>Echarts</a:t>
            </a:r>
            <a:r>
              <a:rPr lang="zh-CN" altLang="en-US" dirty="0"/>
              <a:t>（简单易上手），</a:t>
            </a:r>
            <a:r>
              <a:rPr lang="en-US" altLang="zh-CN" dirty="0" err="1"/>
              <a:t>AntV</a:t>
            </a:r>
            <a:r>
              <a:rPr lang="zh-CN" altLang="en-US" dirty="0"/>
              <a:t>（非常全面、可视化类型超多，但是除了官方文档以外网上</a:t>
            </a:r>
            <a:r>
              <a:rPr lang="zh-CN" altLang="en-US" dirty="0" smtClean="0"/>
              <a:t>基本</a:t>
            </a:r>
            <a:r>
              <a:rPr lang="zh-CN" altLang="en-US" dirty="0"/>
              <a:t>没有可参考的资料，难</a:t>
            </a:r>
            <a:r>
              <a:rPr lang="en-US" altLang="zh-CN" dirty="0"/>
              <a:t>debug</a:t>
            </a:r>
            <a:r>
              <a:rPr lang="zh-CN" altLang="en-US" dirty="0"/>
              <a:t>），</a:t>
            </a:r>
            <a:r>
              <a:rPr lang="en-US" altLang="zh-CN" dirty="0"/>
              <a:t>D3.js</a:t>
            </a:r>
            <a:r>
              <a:rPr lang="zh-CN" altLang="en-US" dirty="0"/>
              <a:t>（复杂、可定制性强）</a:t>
            </a:r>
            <a:endParaRPr lang="zh-CN" altLang="en-US" dirty="0"/>
          </a:p>
          <a:p>
            <a:r>
              <a:rPr lang="zh-CN" altLang="en-US" dirty="0"/>
              <a:t>如果以上都没有你需要的东西，在</a:t>
            </a:r>
            <a:r>
              <a:rPr lang="en-US" altLang="zh-CN" dirty="0" err="1"/>
              <a:t>Github</a:t>
            </a:r>
            <a:r>
              <a:rPr lang="zh-CN" altLang="en-US" dirty="0"/>
              <a:t>上根据所需图表搜索，找一些开源的实现</a:t>
            </a:r>
            <a:endParaRPr lang="zh-CN" altLang="en-US" dirty="0"/>
          </a:p>
          <a:p>
            <a:r>
              <a:rPr lang="zh-CN" altLang="en-US" dirty="0"/>
              <a:t>前端</a:t>
            </a:r>
            <a:r>
              <a:rPr lang="en-US" altLang="zh-CN" dirty="0"/>
              <a:t>UI</a:t>
            </a:r>
            <a:r>
              <a:rPr lang="zh-CN" altLang="en-US" dirty="0"/>
              <a:t>组件库：</a:t>
            </a:r>
            <a:r>
              <a:rPr lang="en-US" altLang="zh-CN" dirty="0" err="1"/>
              <a:t>ElementUI</a:t>
            </a:r>
            <a:r>
              <a:rPr lang="zh-CN" altLang="en-US" dirty="0"/>
              <a:t>，</a:t>
            </a:r>
            <a:r>
              <a:rPr lang="en-US" altLang="zh-CN" dirty="0" err="1"/>
              <a:t>Antd</a:t>
            </a:r>
            <a:r>
              <a:rPr lang="zh-CN" altLang="en-US" dirty="0"/>
              <a:t>， </a:t>
            </a:r>
            <a:r>
              <a:rPr lang="en-US" altLang="zh-CN" dirty="0"/>
              <a:t>iView</a:t>
            </a:r>
            <a:r>
              <a:rPr lang="zh-CN" altLang="en-US" dirty="0"/>
              <a:t>，</a:t>
            </a:r>
            <a:r>
              <a:rPr lang="en-US" altLang="zh-CN" dirty="0"/>
              <a:t>Bootstrap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The End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8DEC8F-A13B-BF44-BB58-A47094AB5FF9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黎明">
  <a:themeElements>
    <a:clrScheme name="黎明">
      <a:dk1>
        <a:sysClr val="windowText" lastClr="000000"/>
      </a:dk1>
      <a:lt1>
        <a:sysClr val="window" lastClr="FFFFFF"/>
      </a:lt1>
      <a:dk2>
        <a:srgbClr val="24213E"/>
      </a:dk2>
      <a:lt2>
        <a:srgbClr val="E9EAF0"/>
      </a:lt2>
      <a:accent1>
        <a:srgbClr val="E8BC4A"/>
      </a:accent1>
      <a:accent2>
        <a:srgbClr val="83C1C6"/>
      </a:accent2>
      <a:accent3>
        <a:srgbClr val="E78D35"/>
      </a:accent3>
      <a:accent4>
        <a:srgbClr val="909CE1"/>
      </a:accent4>
      <a:accent5>
        <a:srgbClr val="839C41"/>
      </a:accent5>
      <a:accent6>
        <a:srgbClr val="CC5439"/>
      </a:accent6>
      <a:hlink>
        <a:srgbClr val="1C6CF1"/>
      </a:hlink>
      <a:folHlink>
        <a:srgbClr val="C649E0"/>
      </a:folHlink>
    </a:clrScheme>
    <a:fontScheme name="黎明">
      <a:majorFont>
        <a:latin typeface="Corbel"/>
        <a:ea typeface=""/>
        <a:cs typeface=""/>
        <a:font script="Jpan" typeface="ヒラギノ角ゴ Pro W3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ヒラギノ角ゴ Pro W3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黎明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 fov="600000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300000"/>
              </a:schemeClr>
            </a:gs>
            <a:gs pos="31000">
              <a:schemeClr val="bg1">
                <a:tint val="100000"/>
                <a:satMod val="300000"/>
              </a:schemeClr>
            </a:gs>
            <a:gs pos="62000">
              <a:schemeClr val="phClr">
                <a:tint val="100000"/>
                <a:shade val="100000"/>
                <a:satMod val="100000"/>
              </a:schemeClr>
            </a:gs>
            <a:gs pos="100000">
              <a:schemeClr val="phClr">
                <a:shade val="100000"/>
                <a:hueMod val="93000"/>
                <a:satMod val="50000"/>
                <a:lumMod val="2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atMod val="100000"/>
              </a:schemeClr>
            </a:gs>
            <a:gs pos="100000">
              <a:schemeClr val="phClr">
                <a:tint val="100000"/>
                <a:shade val="100000"/>
                <a:alpha val="100000"/>
                <a:hueMod val="100000"/>
                <a:satMod val="150000"/>
                <a:lumMod val="5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黎明.thmx</Template>
  <TotalTime>0</TotalTime>
  <Words>1248</Words>
  <Application>WPS 演示</Application>
  <PresentationFormat>宽屏</PresentationFormat>
  <Paragraphs>97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楷体</vt:lpstr>
      <vt:lpstr>Corbel</vt:lpstr>
      <vt:lpstr>微软雅黑</vt:lpstr>
      <vt:lpstr>Arial Unicode MS</vt:lpstr>
      <vt:lpstr>华文楷体</vt:lpstr>
      <vt:lpstr>Calibri</vt:lpstr>
      <vt:lpstr>黎明</vt:lpstr>
      <vt:lpstr>数据可视化与可视分析 Data Visualization and Visual Analytics</vt:lpstr>
      <vt:lpstr>课程设计分享</vt:lpstr>
      <vt:lpstr>流程规划</vt:lpstr>
      <vt:lpstr>问题分析方法 </vt:lpstr>
      <vt:lpstr>数据来源</vt:lpstr>
      <vt:lpstr>可视化设计</vt:lpstr>
      <vt:lpstr>交互设计</vt:lpstr>
      <vt:lpstr>写代码过程中用好插件</vt:lpstr>
      <vt:lpstr>写代码过程中良好习惯</vt:lpstr>
      <vt:lpstr>可使用的库</vt:lpstr>
      <vt:lpstr>PowerPoint 演示文稿</vt:lpstr>
    </vt:vector>
  </TitlesOfParts>
  <Company>Peking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Xiaoru Yuan</dc:creator>
  <cp:lastModifiedBy>董笑菊</cp:lastModifiedBy>
  <cp:revision>175</cp:revision>
  <cp:lastPrinted>2020-04-29T08:51:00Z</cp:lastPrinted>
  <dcterms:created xsi:type="dcterms:W3CDTF">2013-12-04T03:07:00Z</dcterms:created>
  <dcterms:modified xsi:type="dcterms:W3CDTF">2026-05-11T07:15:32Z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4F2B3223F8B0425AB17439376EDB1081_13</vt:lpwstr>
  </property>
  <property fmtid="{D5CDD505-2E9C-101B-9397-08002B2CF9AE}" pid="3" name="KSOProductBuildVer">
    <vt:lpwstr>2052-12.1.0.21541</vt:lpwstr>
  </property>
</Properties>
</file>